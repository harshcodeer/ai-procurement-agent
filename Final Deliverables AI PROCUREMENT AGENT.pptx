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9"/>
  </p:notesMasterIdLst>
  <p:sldIdLst>
    <p:sldId id="1119" r:id="rId2"/>
    <p:sldId id="1496" r:id="rId3"/>
    <p:sldId id="1497" r:id="rId4"/>
    <p:sldId id="1498" r:id="rId5"/>
    <p:sldId id="1499" r:id="rId6"/>
    <p:sldId id="1502" r:id="rId7"/>
    <p:sldId id="1503" r:id="rId8"/>
    <p:sldId id="1504" r:id="rId9"/>
    <p:sldId id="1505" r:id="rId10"/>
    <p:sldId id="1506" r:id="rId11"/>
    <p:sldId id="1507" r:id="rId12"/>
    <p:sldId id="1508" r:id="rId13"/>
    <p:sldId id="1501" r:id="rId14"/>
    <p:sldId id="1510" r:id="rId15"/>
    <p:sldId id="1511" r:id="rId16"/>
    <p:sldId id="1509" r:id="rId17"/>
    <p:sldId id="30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226" autoAdjust="0"/>
  </p:normalViewPr>
  <p:slideViewPr>
    <p:cSldViewPr snapToGrid="0">
      <p:cViewPr varScale="1">
        <p:scale>
          <a:sx n="75" d="100"/>
          <a:sy n="75" d="100"/>
        </p:scale>
        <p:origin x="89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01-10-2026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6" name="Google Shape;12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5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6901111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271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735365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3511447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8106980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6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9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7067339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88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3663050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5999853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471527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87091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6093873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46697041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28273103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94764189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26088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614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7664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24AA6D-658B-4892-6015-EAD4D7B2EC57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991408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64" r:id="rId21"/>
    <p:sldLayoutId id="2147483665" r:id="rId22"/>
    <p:sldLayoutId id="2147483667" r:id="rId23"/>
    <p:sldLayoutId id="2147483668" r:id="rId24"/>
    <p:sldLayoutId id="2147483670" r:id="rId25"/>
    <p:sldLayoutId id="2147483671" r:id="rId2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300218" y="1347837"/>
            <a:ext cx="4741333" cy="5920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IN" sz="2667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Project Title: AI Procurement Agent</a:t>
            </a: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67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Name: Pankaj Kumar</a:t>
            </a: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67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Date</a:t>
            </a:r>
            <a:r>
              <a:rPr lang="en-IN" sz="2667" b="1" kern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: 01-10-2026</a:t>
            </a: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3BD05B-7187-E8E9-E006-950B6DC4E0B1}"/>
              </a:ext>
            </a:extLst>
          </p:cNvPr>
          <p:cNvSpPr txBox="1"/>
          <p:nvPr/>
        </p:nvSpPr>
        <p:spPr>
          <a:xfrm>
            <a:off x="635000" y="1275418"/>
            <a:ext cx="1131062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dirty="0"/>
              <a:t>Procurement teams often handle a large number of repetitive activities such as purchase requests, supplier selection, quotation comparison, purchase orders, invoice verification, and procurement-policy compliance. Manual processes can lead to delays, inconsistent supplier evaluation, duplicate purchases, higher procurement costs, and difficulty tracking procurement activities.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1DD95C-36F5-080D-67D0-B7780B7309B5}"/>
              </a:ext>
            </a:extLst>
          </p:cNvPr>
          <p:cNvSpPr txBox="1"/>
          <p:nvPr/>
        </p:nvSpPr>
        <p:spPr>
          <a:xfrm>
            <a:off x="635000" y="2718991"/>
            <a:ext cx="76555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dirty="0"/>
              <a:t>Manual processing of purchase requests.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dirty="0"/>
              <a:t>Time-consuming supplier and quotation comparison.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dirty="0"/>
              <a:t>Difficulty identifying suitable suppliers quickly.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dirty="0"/>
              <a:t>Inconsistent procurement decisions.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dirty="0"/>
              <a:t>Risk of purchasing outside approved procurement policies.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dirty="0"/>
              <a:t>Duplicate or unnecessary purchase requests.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dirty="0"/>
              <a:t>Delays in purchase-order creation and approval.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dirty="0"/>
              <a:t>Difficulty tracking supplier performance and spending.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dirty="0"/>
              <a:t>Manual invoice and purchase-order matching.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dirty="0"/>
              <a:t>Limited real-time visibility into procurement operations.</a:t>
            </a:r>
          </a:p>
        </p:txBody>
      </p:sp>
      <p:pic>
        <p:nvPicPr>
          <p:cNvPr id="8" name="Graphic 7" descr="Diamond with solid fill">
            <a:extLst>
              <a:ext uri="{FF2B5EF4-FFF2-40B4-BE49-F238E27FC236}">
                <a16:creationId xmlns:a16="http://schemas.microsoft.com/office/drawing/2014/main" id="{F5BC5EEA-8A08-3704-91BA-85505B276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FFEE05-02FC-28AA-ABB4-434D6DFF96A0}"/>
              </a:ext>
            </a:extLst>
          </p:cNvPr>
          <p:cNvSpPr txBox="1"/>
          <p:nvPr/>
        </p:nvSpPr>
        <p:spPr>
          <a:xfrm>
            <a:off x="1249680" y="381338"/>
            <a:ext cx="5374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708497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57D9E9-5741-3861-4144-93D75629EF02}"/>
              </a:ext>
            </a:extLst>
          </p:cNvPr>
          <p:cNvSpPr txBox="1"/>
          <p:nvPr/>
        </p:nvSpPr>
        <p:spPr>
          <a:xfrm>
            <a:off x="680720" y="1428368"/>
            <a:ext cx="11054080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700" dirty="0"/>
              <a:t>The AI Procurement Agent is an agentic AI system designed to automate the procurement lifecycle from purchase request to supplier selection, approval, purchase order, and invoice verification.</a:t>
            </a:r>
          </a:p>
          <a:p>
            <a:pPr>
              <a:buNone/>
            </a:pPr>
            <a:endParaRPr lang="en-IN" sz="1700" dirty="0"/>
          </a:p>
          <a:p>
            <a:pPr>
              <a:buNone/>
            </a:pPr>
            <a:r>
              <a:rPr lang="en-IN" sz="1700" dirty="0"/>
              <a:t>An employee or department can submit a request such as:</a:t>
            </a:r>
          </a:p>
          <a:p>
            <a:pPr>
              <a:buNone/>
            </a:pPr>
            <a:endParaRPr lang="en-IN" sz="1700" dirty="0"/>
          </a:p>
          <a:p>
            <a:pPr>
              <a:buNone/>
            </a:pPr>
            <a:r>
              <a:rPr lang="en-IN" sz="1700" dirty="0"/>
              <a:t>"We need 20 laptops with at least 16 GB RAM and 512 GB SSD for the new employees.“</a:t>
            </a:r>
          </a:p>
          <a:p>
            <a:pPr>
              <a:buNone/>
            </a:pPr>
            <a:endParaRPr lang="en-IN" sz="1700" dirty="0"/>
          </a:p>
          <a:p>
            <a:pPr>
              <a:buNone/>
            </a:pPr>
            <a:r>
              <a:rPr lang="en-IN" sz="1700" dirty="0"/>
              <a:t>The AI agent understands the requirement, extracts important specifications, checks existing inventory, searches approved suppliers, retrieves quotations, compares price and delivery terms, checks procurement policies, and prepares a recommendation.</a:t>
            </a:r>
          </a:p>
          <a:p>
            <a:pPr>
              <a:buNone/>
            </a:pPr>
            <a:endParaRPr lang="en-IN" sz="1700" dirty="0"/>
          </a:p>
          <a:p>
            <a:pPr>
              <a:buNone/>
            </a:pPr>
            <a:r>
              <a:rPr lang="en-IN" sz="1700" dirty="0"/>
              <a:t>For high-value purchases or decisions requiring authorization, the agent sends the case to a procurement manager for human approval rather than making the final decision autonomously.</a:t>
            </a:r>
          </a:p>
        </p:txBody>
      </p:sp>
      <p:pic>
        <p:nvPicPr>
          <p:cNvPr id="5" name="Graphic 4" descr="Diamond with solid fill">
            <a:extLst>
              <a:ext uri="{FF2B5EF4-FFF2-40B4-BE49-F238E27FC236}">
                <a16:creationId xmlns:a16="http://schemas.microsoft.com/office/drawing/2014/main" id="{65549581-6BCD-A6F6-CC07-3FE2E4F1D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43993"/>
            <a:ext cx="589280" cy="589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48324D-531D-0F50-079C-2A91F5D0101D}"/>
              </a:ext>
            </a:extLst>
          </p:cNvPr>
          <p:cNvSpPr txBox="1"/>
          <p:nvPr/>
        </p:nvSpPr>
        <p:spPr>
          <a:xfrm>
            <a:off x="1249680" y="381338"/>
            <a:ext cx="5374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246276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D9477-D61C-B280-0366-A4C7B77C6827}"/>
              </a:ext>
            </a:extLst>
          </p:cNvPr>
          <p:cNvSpPr txBox="1"/>
          <p:nvPr/>
        </p:nvSpPr>
        <p:spPr>
          <a:xfrm>
            <a:off x="370840" y="1420758"/>
            <a:ext cx="11079480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Procurement Team: </a:t>
            </a:r>
            <a:r>
              <a:rPr lang="en-IN" sz="1700" dirty="0"/>
              <a:t>Receive and process purchase requests; Compare supplier quotations; Search approved suppliers; Monitor purchase orders; Track supplier performance; Reduce manual procurement activities; Ensure procurement-policy compliance.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Department Managers: </a:t>
            </a:r>
            <a:r>
              <a:rPr lang="en-IN" sz="1700" dirty="0"/>
              <a:t>Submit purchase requests; Track request status; Approve purchases within their authorization limits; Monitor departmental spending.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Employees: </a:t>
            </a:r>
            <a:r>
              <a:rPr lang="en-IN" sz="1700" dirty="0"/>
              <a:t>Submit purchase requirements using natural language; Check request status; Receive updates about approvals and orders; Avoid complicated procurement forms where possible.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Suppliers: </a:t>
            </a:r>
            <a:r>
              <a:rPr lang="en-IN" sz="1700" dirty="0"/>
              <a:t>Receive quotation requests; Submit quotations; Provide pricing and delivery information; Receive purchase orders; Update order status.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Finance Team: </a:t>
            </a:r>
            <a:r>
              <a:rPr lang="en-IN" sz="1700" dirty="0"/>
              <a:t>Verify purchase orders and invoices; Monitor procurement spending; Perform invoice matching; Track payments; Identify discrepancies.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Procurement Management: </a:t>
            </a:r>
            <a:r>
              <a:rPr lang="en-IN" sz="1700" dirty="0"/>
              <a:t>Monitor procurement KPIs; </a:t>
            </a:r>
            <a:r>
              <a:rPr lang="en-IN" sz="1700" dirty="0" err="1"/>
              <a:t>Analyze</a:t>
            </a:r>
            <a:r>
              <a:rPr lang="en-IN" sz="1700" dirty="0"/>
              <a:t> supplier performance; Monitor procurement costs; Identify cost-saving opportunities; Ensure compliance with procurement policies.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IT / Security Team: </a:t>
            </a:r>
            <a:r>
              <a:rPr lang="en-IN" sz="1700" dirty="0"/>
              <a:t>Secure procurement data; Manage user authentication and authorization; Maintain audit logs; Control access to supplier and financial information; Monitor AI-agent activities. </a:t>
            </a:r>
          </a:p>
        </p:txBody>
      </p:sp>
      <p:pic>
        <p:nvPicPr>
          <p:cNvPr id="5" name="Graphic 4" descr="Diamond with solid fill">
            <a:extLst>
              <a:ext uri="{FF2B5EF4-FFF2-40B4-BE49-F238E27FC236}">
                <a16:creationId xmlns:a16="http://schemas.microsoft.com/office/drawing/2014/main" id="{4C9082C3-9C5D-E1DA-F8D1-F504A5120B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746517-DD20-A130-257F-0984FBA0A2FD}"/>
              </a:ext>
            </a:extLst>
          </p:cNvPr>
          <p:cNvSpPr txBox="1"/>
          <p:nvPr/>
        </p:nvSpPr>
        <p:spPr>
          <a:xfrm>
            <a:off x="1249680" y="381338"/>
            <a:ext cx="66751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STAKEHOLDER’S REQUIREMENTS</a:t>
            </a:r>
          </a:p>
        </p:txBody>
      </p:sp>
    </p:spTree>
    <p:extLst>
      <p:ext uri="{BB962C8B-B14F-4D97-AF65-F5344CB8AC3E}">
        <p14:creationId xmlns:p14="http://schemas.microsoft.com/office/powerpoint/2010/main" val="185717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8CF8D-28BF-67A9-FC49-A8C0F4027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1097117"/>
            <a:ext cx="11789162" cy="37493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6B9D7E-DCA6-F45E-D28D-8EF8E96DE653}"/>
              </a:ext>
            </a:extLst>
          </p:cNvPr>
          <p:cNvSpPr txBox="1"/>
          <p:nvPr/>
        </p:nvSpPr>
        <p:spPr>
          <a:xfrm>
            <a:off x="201419" y="4814669"/>
            <a:ext cx="11789162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dirty="0"/>
              <a:t>The AI Procurement Agent automates the procurement process from understanding an employee’s purchase request to supplier comparison, approval, and purchase-order generation.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dirty="0"/>
              <a:t>It also verifies deliveries and invoices by matching purchase orders, helping identify discrepancies before finance processing.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dirty="0"/>
              <a:t>Finally, procurement activities are recorded in audit logs and </a:t>
            </a:r>
            <a:r>
              <a:rPr lang="en-IN" sz="1700" dirty="0" err="1"/>
              <a:t>analyzed</a:t>
            </a:r>
            <a:r>
              <a:rPr lang="en-IN" sz="1700" dirty="0"/>
              <a:t> through Power BI for better visibility, compliance, and decision-making.</a:t>
            </a:r>
          </a:p>
        </p:txBody>
      </p:sp>
      <p:pic>
        <p:nvPicPr>
          <p:cNvPr id="7" name="Graphic 6" descr="Diamond with solid fill">
            <a:extLst>
              <a:ext uri="{FF2B5EF4-FFF2-40B4-BE49-F238E27FC236}">
                <a16:creationId xmlns:a16="http://schemas.microsoft.com/office/drawing/2014/main" id="{DA51E2DE-CD19-0FCC-5F21-76DF1F7859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C42657-843C-204D-2512-6FB3DF440BED}"/>
              </a:ext>
            </a:extLst>
          </p:cNvPr>
          <p:cNvSpPr txBox="1"/>
          <p:nvPr/>
        </p:nvSpPr>
        <p:spPr>
          <a:xfrm>
            <a:off x="1249680" y="381338"/>
            <a:ext cx="5527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SOLUTION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9082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Diamond with solid fill">
            <a:extLst>
              <a:ext uri="{FF2B5EF4-FFF2-40B4-BE49-F238E27FC236}">
                <a16:creationId xmlns:a16="http://schemas.microsoft.com/office/drawing/2014/main" id="{FF7AB804-651F-1375-19E5-C1436E084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A6B464-60E5-109C-E253-AB4C845DCF1D}"/>
              </a:ext>
            </a:extLst>
          </p:cNvPr>
          <p:cNvSpPr txBox="1"/>
          <p:nvPr/>
        </p:nvSpPr>
        <p:spPr>
          <a:xfrm>
            <a:off x="1249680" y="381338"/>
            <a:ext cx="4104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TECHNOLOGY STACK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5A3526-A7E2-FC49-D2BC-6B1DCD0FBC5E}"/>
              </a:ext>
            </a:extLst>
          </p:cNvPr>
          <p:cNvSpPr/>
          <p:nvPr/>
        </p:nvSpPr>
        <p:spPr>
          <a:xfrm>
            <a:off x="599438" y="1402080"/>
            <a:ext cx="3434080" cy="22352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1802A3-84A3-5778-A554-416238E41895}"/>
              </a:ext>
            </a:extLst>
          </p:cNvPr>
          <p:cNvSpPr/>
          <p:nvPr/>
        </p:nvSpPr>
        <p:spPr>
          <a:xfrm>
            <a:off x="4378960" y="1402080"/>
            <a:ext cx="3434080" cy="22352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729811-9E77-A191-76AF-31A3A3EE85EA}"/>
              </a:ext>
            </a:extLst>
          </p:cNvPr>
          <p:cNvSpPr/>
          <p:nvPr/>
        </p:nvSpPr>
        <p:spPr>
          <a:xfrm>
            <a:off x="8158482" y="1402080"/>
            <a:ext cx="3434080" cy="22352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D9C753-A919-E15B-C0DA-0E2FF4309E1A}"/>
              </a:ext>
            </a:extLst>
          </p:cNvPr>
          <p:cNvSpPr/>
          <p:nvPr/>
        </p:nvSpPr>
        <p:spPr>
          <a:xfrm>
            <a:off x="2529838" y="3931582"/>
            <a:ext cx="3434080" cy="22352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257695-2B8E-6637-D9B2-9749209F029D}"/>
              </a:ext>
            </a:extLst>
          </p:cNvPr>
          <p:cNvSpPr/>
          <p:nvPr/>
        </p:nvSpPr>
        <p:spPr>
          <a:xfrm>
            <a:off x="6604002" y="3931582"/>
            <a:ext cx="3434080" cy="22352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908A9B-23BF-E8B9-4DFD-667450478F79}"/>
              </a:ext>
            </a:extLst>
          </p:cNvPr>
          <p:cNvSpPr txBox="1"/>
          <p:nvPr/>
        </p:nvSpPr>
        <p:spPr>
          <a:xfrm>
            <a:off x="599438" y="1642517"/>
            <a:ext cx="34543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⚙️ </a:t>
            </a:r>
            <a:r>
              <a:rPr lang="en-IN" dirty="0">
                <a:solidFill>
                  <a:schemeClr val="bg1"/>
                </a:solidFill>
              </a:rPr>
              <a:t>Automation &amp; Workflow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N8n Cloud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N8n AI Agent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Webhooks / Manual Trigger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345BCC-4701-36DB-46FF-4CA07733B4CC}"/>
              </a:ext>
            </a:extLst>
          </p:cNvPr>
          <p:cNvSpPr txBox="1"/>
          <p:nvPr/>
        </p:nvSpPr>
        <p:spPr>
          <a:xfrm>
            <a:off x="4399278" y="1642517"/>
            <a:ext cx="34543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🤖 AI &amp; LLM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err="1">
                <a:solidFill>
                  <a:schemeClr val="bg1"/>
                </a:solidFill>
              </a:rPr>
              <a:t>Groq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AI Agents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Prompt Engineering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9C8DB6-E455-B943-3844-AF739FCE3EB0}"/>
              </a:ext>
            </a:extLst>
          </p:cNvPr>
          <p:cNvSpPr txBox="1"/>
          <p:nvPr/>
        </p:nvSpPr>
        <p:spPr>
          <a:xfrm>
            <a:off x="8148323" y="1642517"/>
            <a:ext cx="34543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📂 Data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Microsoft Excel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Google Drive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Extract from file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Convert to file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EF31AC-5E72-61B1-DA77-E6629A383F9F}"/>
              </a:ext>
            </a:extLst>
          </p:cNvPr>
          <p:cNvSpPr txBox="1"/>
          <p:nvPr/>
        </p:nvSpPr>
        <p:spPr>
          <a:xfrm>
            <a:off x="2529838" y="4172019"/>
            <a:ext cx="34543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🔍</a:t>
            </a:r>
            <a:r>
              <a:rPr lang="en-IN" dirty="0">
                <a:solidFill>
                  <a:schemeClr val="bg1"/>
                </a:solidFill>
              </a:rPr>
              <a:t> Procurement &amp; Decision Processing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IF / Conditional Logic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Merge Nodes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Human Approval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11A12D-4CCF-86B4-B60B-45F171221F8E}"/>
              </a:ext>
            </a:extLst>
          </p:cNvPr>
          <p:cNvSpPr txBox="1"/>
          <p:nvPr/>
        </p:nvSpPr>
        <p:spPr>
          <a:xfrm>
            <a:off x="6604002" y="4172019"/>
            <a:ext cx="34543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📊 Reporting &amp; Audit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Audit Log.xlsx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Structured JSON</a:t>
            </a:r>
          </a:p>
        </p:txBody>
      </p:sp>
    </p:spTree>
    <p:extLst>
      <p:ext uri="{BB962C8B-B14F-4D97-AF65-F5344CB8AC3E}">
        <p14:creationId xmlns:p14="http://schemas.microsoft.com/office/powerpoint/2010/main" val="685428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76A7BB-7FE1-715E-241B-2719CA856DE5}"/>
              </a:ext>
            </a:extLst>
          </p:cNvPr>
          <p:cNvSpPr txBox="1"/>
          <p:nvPr/>
        </p:nvSpPr>
        <p:spPr>
          <a:xfrm>
            <a:off x="487680" y="1452880"/>
            <a:ext cx="111150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1" dirty="0"/>
              <a:t>Employee Requests</a:t>
            </a:r>
            <a:r>
              <a:rPr lang="en-IN" dirty="0"/>
              <a:t> – Contains employee details, requested items, quantity, required date, and justification.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1" dirty="0"/>
              <a:t>Inventory</a:t>
            </a:r>
            <a:r>
              <a:rPr lang="en-IN" dirty="0"/>
              <a:t> – Provides available products, stock quantities, and item information.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1" dirty="0"/>
              <a:t>Suppliers </a:t>
            </a:r>
            <a:r>
              <a:rPr lang="en-IN" dirty="0"/>
              <a:t>– Defines approval requirements based on purchase value, category, or department.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1" dirty="0"/>
              <a:t>Supplier Quotations</a:t>
            </a:r>
            <a:r>
              <a:rPr lang="en-IN" dirty="0"/>
              <a:t> – Contains supplier prices, delivery timelines, quantities, and commercial terms.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1" dirty="0"/>
              <a:t>Procurement Policy</a:t>
            </a:r>
            <a:r>
              <a:rPr lang="en-IN" dirty="0"/>
              <a:t> – Includes purchasing rules, spending limits, supplier requirements, and approval guidelines.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1" dirty="0"/>
              <a:t>Purpose</a:t>
            </a:r>
            <a:r>
              <a:rPr lang="en-IN" dirty="0"/>
              <a:t> – These inputs help the AI Agent validate requests, compare suppliers, and prepare recommendations for human approval.</a:t>
            </a:r>
          </a:p>
          <a:p>
            <a:endParaRPr lang="en-IN" dirty="0"/>
          </a:p>
        </p:txBody>
      </p:sp>
      <p:pic>
        <p:nvPicPr>
          <p:cNvPr id="4" name="Graphic 3" descr="Diamond with solid fill">
            <a:extLst>
              <a:ext uri="{FF2B5EF4-FFF2-40B4-BE49-F238E27FC236}">
                <a16:creationId xmlns:a16="http://schemas.microsoft.com/office/drawing/2014/main" id="{A9AD8941-A075-27AE-F0F3-E6AA64084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A867D8-682C-CB70-9119-DAC4E1B4ADA1}"/>
              </a:ext>
            </a:extLst>
          </p:cNvPr>
          <p:cNvSpPr txBox="1"/>
          <p:nvPr/>
        </p:nvSpPr>
        <p:spPr>
          <a:xfrm>
            <a:off x="1249680" y="381338"/>
            <a:ext cx="4104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INPUT DATA &amp; FILES</a:t>
            </a:r>
          </a:p>
        </p:txBody>
      </p:sp>
    </p:spTree>
    <p:extLst>
      <p:ext uri="{BB962C8B-B14F-4D97-AF65-F5344CB8AC3E}">
        <p14:creationId xmlns:p14="http://schemas.microsoft.com/office/powerpoint/2010/main" val="235313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Diamond with solid fill">
            <a:extLst>
              <a:ext uri="{FF2B5EF4-FFF2-40B4-BE49-F238E27FC236}">
                <a16:creationId xmlns:a16="http://schemas.microsoft.com/office/drawing/2014/main" id="{45B51ED9-BCA8-CBB6-48F6-FC4B41D602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9DD4AA-E0D9-A3AB-4505-E16BAFFE8973}"/>
              </a:ext>
            </a:extLst>
          </p:cNvPr>
          <p:cNvSpPr txBox="1"/>
          <p:nvPr/>
        </p:nvSpPr>
        <p:spPr>
          <a:xfrm>
            <a:off x="1249680" y="381338"/>
            <a:ext cx="65125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AI REQUIREMENT UNDERSTANDING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52FEB-4EBB-39B9-F6CF-CD6026BEDA63}"/>
              </a:ext>
            </a:extLst>
          </p:cNvPr>
          <p:cNvSpPr txBox="1"/>
          <p:nvPr/>
        </p:nvSpPr>
        <p:spPr>
          <a:xfrm>
            <a:off x="670560" y="1513840"/>
            <a:ext cx="108102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 err="1"/>
              <a:t>Analyzes</a:t>
            </a:r>
            <a:r>
              <a:rPr lang="en-IN" dirty="0"/>
              <a:t> employee procurement requests using an AI Agent.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Converts natural-language requests into structured procurement requirements.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Identifies item name, category, quantity, specifications, and required date.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Extracts budget, priority, and business justification when available.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Detects missing or unclear information in the employee request.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Passes the structured requirement to the next steps: Inventory Check, Policy Validation, and Supplier Search.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229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5D8E8D-BA17-31AA-E617-96D823BD2D43}"/>
              </a:ext>
            </a:extLst>
          </p:cNvPr>
          <p:cNvSpPr txBox="1"/>
          <p:nvPr/>
        </p:nvSpPr>
        <p:spPr>
          <a:xfrm>
            <a:off x="670560" y="1513840"/>
            <a:ext cx="108102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Checks the </a:t>
            </a:r>
            <a:r>
              <a:rPr lang="en-IN" b="1" dirty="0"/>
              <a:t>current inventory</a:t>
            </a:r>
            <a:r>
              <a:rPr lang="en-IN" dirty="0"/>
              <a:t> to determine whether the requested item is already available.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Compares the </a:t>
            </a:r>
            <a:r>
              <a:rPr lang="en-IN" b="1" dirty="0"/>
              <a:t>requested quantity</a:t>
            </a:r>
            <a:r>
              <a:rPr lang="en-IN" dirty="0"/>
              <a:t> with the available stock.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Validates the request against the organization’s </a:t>
            </a:r>
            <a:r>
              <a:rPr lang="en-IN" b="1" dirty="0"/>
              <a:t>procurement policies and rules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Checks conditions such as </a:t>
            </a:r>
            <a:r>
              <a:rPr lang="en-IN" b="1" dirty="0"/>
              <a:t>purchase limits, approval requirements, and eligible procurement categories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Identifies whether the request can be </a:t>
            </a:r>
            <a:r>
              <a:rPr lang="en-IN" b="1" dirty="0"/>
              <a:t>fulfilled from inventory</a:t>
            </a:r>
            <a:r>
              <a:rPr lang="en-IN" dirty="0"/>
              <a:t> or requires external purchasing.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Sends valid requests to the </a:t>
            </a:r>
            <a:r>
              <a:rPr lang="en-IN" b="1" dirty="0"/>
              <a:t>Approved Supplier Search and Quotation Collection</a:t>
            </a:r>
            <a:r>
              <a:rPr lang="en-IN" dirty="0"/>
              <a:t> stages for further processing.</a:t>
            </a:r>
          </a:p>
          <a:p>
            <a:endParaRPr lang="en-IN" dirty="0"/>
          </a:p>
        </p:txBody>
      </p:sp>
      <p:pic>
        <p:nvPicPr>
          <p:cNvPr id="5" name="Graphic 4" descr="Diamond with solid fill">
            <a:extLst>
              <a:ext uri="{FF2B5EF4-FFF2-40B4-BE49-F238E27FC236}">
                <a16:creationId xmlns:a16="http://schemas.microsoft.com/office/drawing/2014/main" id="{8A2C2EED-B78C-835B-D436-2473A9903A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A25246-42C3-A28C-FE86-9834E362B8A2}"/>
              </a:ext>
            </a:extLst>
          </p:cNvPr>
          <p:cNvSpPr txBox="1"/>
          <p:nvPr/>
        </p:nvSpPr>
        <p:spPr>
          <a:xfrm>
            <a:off x="1249680" y="381338"/>
            <a:ext cx="84531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INVENTORY &amp; PROCUREMENT POLICY CHECK </a:t>
            </a:r>
          </a:p>
        </p:txBody>
      </p:sp>
    </p:spTree>
    <p:extLst>
      <p:ext uri="{BB962C8B-B14F-4D97-AF65-F5344CB8AC3E}">
        <p14:creationId xmlns:p14="http://schemas.microsoft.com/office/powerpoint/2010/main" val="2764976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Diamond with solid fill">
            <a:extLst>
              <a:ext uri="{FF2B5EF4-FFF2-40B4-BE49-F238E27FC236}">
                <a16:creationId xmlns:a16="http://schemas.microsoft.com/office/drawing/2014/main" id="{426140EC-9EA3-A4FC-8CC9-7C86657ED2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87BE54-367A-BA4C-ADA8-02F69B6CE833}"/>
              </a:ext>
            </a:extLst>
          </p:cNvPr>
          <p:cNvSpPr txBox="1"/>
          <p:nvPr/>
        </p:nvSpPr>
        <p:spPr>
          <a:xfrm>
            <a:off x="1249680" y="381338"/>
            <a:ext cx="8107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APPROVED SUPPLIER SEARCH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F5174-BE48-7385-FECA-56F078B76BC4}"/>
              </a:ext>
            </a:extLst>
          </p:cNvPr>
          <p:cNvSpPr txBox="1"/>
          <p:nvPr/>
        </p:nvSpPr>
        <p:spPr>
          <a:xfrm>
            <a:off x="619760" y="1544320"/>
            <a:ext cx="10810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Searches the </a:t>
            </a:r>
            <a:r>
              <a:rPr lang="en-IN" b="1" dirty="0"/>
              <a:t>approved supplier list</a:t>
            </a:r>
            <a:r>
              <a:rPr lang="en-IN" dirty="0"/>
              <a:t> based on the requested item and category.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Filters suppliers according to the organization’s </a:t>
            </a:r>
            <a:r>
              <a:rPr lang="en-IN" b="1" dirty="0"/>
              <a:t>procurement rules and eligibility criteria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Retrieves relevant </a:t>
            </a:r>
            <a:r>
              <a:rPr lang="en-IN" b="1" dirty="0"/>
              <a:t>supplier names, products, prices, and availability</a:t>
            </a:r>
            <a:r>
              <a:rPr lang="en-IN" dirty="0"/>
              <a:t> where available.</a:t>
            </a:r>
          </a:p>
          <a:p>
            <a:pPr lvl="0"/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Matches supplier offerings with the </a:t>
            </a:r>
            <a:r>
              <a:rPr lang="en-IN" b="1" dirty="0"/>
              <a:t>required specifications and quantity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Identifies suitable suppliers for the </a:t>
            </a:r>
            <a:r>
              <a:rPr lang="en-IN" b="1" dirty="0"/>
              <a:t>quotation collection</a:t>
            </a:r>
            <a:r>
              <a:rPr lang="en-IN" dirty="0"/>
              <a:t> stage.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Ensures procurement is considered only from </a:t>
            </a:r>
            <a:r>
              <a:rPr lang="en-IN" b="1" dirty="0"/>
              <a:t>authorized and approved suppliers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453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21FB15-DB84-8AD5-999A-71767721588F}"/>
              </a:ext>
            </a:extLst>
          </p:cNvPr>
          <p:cNvSpPr txBox="1"/>
          <p:nvPr/>
        </p:nvSpPr>
        <p:spPr>
          <a:xfrm>
            <a:off x="619760" y="1544320"/>
            <a:ext cx="108102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Collects </a:t>
            </a:r>
            <a:r>
              <a:rPr lang="en-IN" b="1" dirty="0"/>
              <a:t>supplier quotations</a:t>
            </a:r>
            <a:r>
              <a:rPr lang="en-IN" dirty="0"/>
              <a:t> for the required item and quantity.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Captures key details such as </a:t>
            </a:r>
            <a:r>
              <a:rPr lang="en-IN" b="1" dirty="0"/>
              <a:t>price, delivery time, quantity, and supplier terms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Compares quotations from multiple </a:t>
            </a:r>
            <a:r>
              <a:rPr lang="en-IN" b="1" dirty="0"/>
              <a:t>approved suppliers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Evaluates suppliers based on </a:t>
            </a:r>
            <a:r>
              <a:rPr lang="en-IN" b="1" dirty="0"/>
              <a:t>cost, delivery timeline, product specifications, and other requirements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Identifies the differences between available supplier options.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Provides a </a:t>
            </a:r>
            <a:r>
              <a:rPr lang="en-IN" b="1" dirty="0"/>
              <a:t>structured comparison</a:t>
            </a:r>
            <a:r>
              <a:rPr lang="en-IN" dirty="0"/>
              <a:t> to support the procurement recommendation and </a:t>
            </a:r>
            <a:r>
              <a:rPr lang="en-IN" b="1" dirty="0"/>
              <a:t>human approval</a:t>
            </a:r>
            <a:r>
              <a:rPr lang="en-IN" dirty="0"/>
              <a:t>. </a:t>
            </a:r>
          </a:p>
        </p:txBody>
      </p:sp>
      <p:pic>
        <p:nvPicPr>
          <p:cNvPr id="5" name="Graphic 4" descr="Diamond with solid fill">
            <a:extLst>
              <a:ext uri="{FF2B5EF4-FFF2-40B4-BE49-F238E27FC236}">
                <a16:creationId xmlns:a16="http://schemas.microsoft.com/office/drawing/2014/main" id="{FBB2C0A4-DA64-7900-6789-1EA6F22A2F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1D08EC-D99F-61DE-660C-85DA0659C92B}"/>
              </a:ext>
            </a:extLst>
          </p:cNvPr>
          <p:cNvSpPr txBox="1"/>
          <p:nvPr/>
        </p:nvSpPr>
        <p:spPr>
          <a:xfrm>
            <a:off x="1249680" y="381338"/>
            <a:ext cx="9631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QUOTATION COLLECTION &amp; SUPPLIER COMPARISON</a:t>
            </a:r>
          </a:p>
        </p:txBody>
      </p:sp>
    </p:spTree>
    <p:extLst>
      <p:ext uri="{BB962C8B-B14F-4D97-AF65-F5344CB8AC3E}">
        <p14:creationId xmlns:p14="http://schemas.microsoft.com/office/powerpoint/2010/main" val="1297536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C26AC3-72B3-26B4-4BE5-F8F49559F8BC}"/>
              </a:ext>
            </a:extLst>
          </p:cNvPr>
          <p:cNvSpPr txBox="1"/>
          <p:nvPr/>
        </p:nvSpPr>
        <p:spPr>
          <a:xfrm>
            <a:off x="619760" y="1544320"/>
            <a:ext cx="108102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Tested the AI Procurement Agent using </a:t>
            </a:r>
            <a:r>
              <a:rPr lang="en-IN" b="1" dirty="0"/>
              <a:t>sample employee procurement requests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Verified the AI’s ability to </a:t>
            </a:r>
            <a:r>
              <a:rPr lang="en-IN" b="1" dirty="0"/>
              <a:t>understand requirements and extract key specifications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Tested </a:t>
            </a:r>
            <a:r>
              <a:rPr lang="en-IN" b="1" dirty="0"/>
              <a:t>inventory availability</a:t>
            </a:r>
            <a:r>
              <a:rPr lang="en-IN" dirty="0"/>
              <a:t> and procurement policy validation using the provided Excel and policy files.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Validated the </a:t>
            </a:r>
            <a:r>
              <a:rPr lang="en-IN" b="1" dirty="0"/>
              <a:t>approved supplier search</a:t>
            </a:r>
            <a:r>
              <a:rPr lang="en-IN" dirty="0"/>
              <a:t> and quotation collection process.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Compared supplier quotations based on </a:t>
            </a:r>
            <a:r>
              <a:rPr lang="en-IN" b="1" dirty="0"/>
              <a:t>price, specifications, and delivery time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Confirmed that the workflow generates a </a:t>
            </a:r>
            <a:r>
              <a:rPr lang="en-IN" b="1" dirty="0"/>
              <a:t>structured procurement recommendation for human approval</a:t>
            </a:r>
            <a:r>
              <a:rPr lang="en-IN" dirty="0"/>
              <a:t>. </a:t>
            </a:r>
          </a:p>
          <a:p>
            <a:pPr lvl="0"/>
            <a:endParaRPr lang="en-IN" dirty="0"/>
          </a:p>
        </p:txBody>
      </p:sp>
      <p:pic>
        <p:nvPicPr>
          <p:cNvPr id="5" name="Graphic 4" descr="Diamond with solid fill">
            <a:extLst>
              <a:ext uri="{FF2B5EF4-FFF2-40B4-BE49-F238E27FC236}">
                <a16:creationId xmlns:a16="http://schemas.microsoft.com/office/drawing/2014/main" id="{C2B175DC-236B-5222-3EA7-475E7BA77D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539679-A226-EAFC-17F8-9AF4AB7CE042}"/>
              </a:ext>
            </a:extLst>
          </p:cNvPr>
          <p:cNvSpPr txBox="1"/>
          <p:nvPr/>
        </p:nvSpPr>
        <p:spPr>
          <a:xfrm>
            <a:off x="1249680" y="381338"/>
            <a:ext cx="86461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TESTING &amp; SAMPLE RESULTS</a:t>
            </a:r>
          </a:p>
        </p:txBody>
      </p:sp>
    </p:spTree>
    <p:extLst>
      <p:ext uri="{BB962C8B-B14F-4D97-AF65-F5344CB8AC3E}">
        <p14:creationId xmlns:p14="http://schemas.microsoft.com/office/powerpoint/2010/main" val="1633995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48A42F-D07F-E1FC-D4F7-192FE81F231E}"/>
              </a:ext>
            </a:extLst>
          </p:cNvPr>
          <p:cNvSpPr txBox="1"/>
          <p:nvPr/>
        </p:nvSpPr>
        <p:spPr>
          <a:xfrm>
            <a:off x="523240" y="1173718"/>
            <a:ext cx="110032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Reduced Procurement Processing Time: </a:t>
            </a:r>
            <a:r>
              <a:rPr lang="en-IN" sz="1700" dirty="0"/>
              <a:t>Automates repetitive activities such as request processing, supplier search, quotation comparison, and document preparation.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Improved Procurement Efficiency: </a:t>
            </a:r>
            <a:r>
              <a:rPr lang="en-IN" sz="1700" dirty="0"/>
              <a:t>Procurement teams can spend less time collecting and organizing information and more time managing suppliers and procurement strategy.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Better Supplier Visibility: </a:t>
            </a:r>
            <a:r>
              <a:rPr lang="en-IN" sz="1700" dirty="0"/>
              <a:t>The system can consolidate supplier information, historical purchases, pricing, delivery performance, and quality metrics.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Procurement Cost Analysis: </a:t>
            </a:r>
            <a:r>
              <a:rPr lang="en-IN" sz="1700" dirty="0"/>
              <a:t>Historical procurement data can help organizations identify pricing trends, frequently purchased products, and potential cost-saving opportunities.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Policy Compliance: </a:t>
            </a:r>
            <a:r>
              <a:rPr lang="en-IN" sz="1700" dirty="0"/>
              <a:t>The agent can check purchase requests against predefined procurement rules and retrieve relevant policies through RAG.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Faster Purchase Order Processing: </a:t>
            </a:r>
            <a:r>
              <a:rPr lang="en-IN" sz="1700" dirty="0"/>
              <a:t>Once required approvals are obtained, the system can automatically prepare and route purchase-order information.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Invoice Error Detection: </a:t>
            </a:r>
            <a:r>
              <a:rPr lang="en-IN" sz="1700" dirty="0"/>
              <a:t>AI-assisted PO/invoice matching can identify discrepancies in: Quantity; Price; Supplier; Product; Tax;  Payment terms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Better Supplier Management: </a:t>
            </a:r>
            <a:r>
              <a:rPr lang="en-IN" sz="1700" dirty="0"/>
              <a:t>Organizations can track: Delivery performance; Quality; Pricing; Order history; Contract status; Supplier responsiveness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700" b="1" dirty="0"/>
              <a:t>Human-in-the-Loop Decision Making: </a:t>
            </a:r>
            <a:r>
              <a:rPr lang="en-IN" sz="1700" dirty="0"/>
              <a:t>High-value purchases, unusual requests, supplier exceptions, and policy-sensitive decisions can be routed to authorized procurement personnel.</a:t>
            </a:r>
          </a:p>
        </p:txBody>
      </p:sp>
      <p:pic>
        <p:nvPicPr>
          <p:cNvPr id="5" name="Graphic 4" descr="Diamond with solid fill">
            <a:extLst>
              <a:ext uri="{FF2B5EF4-FFF2-40B4-BE49-F238E27FC236}">
                <a16:creationId xmlns:a16="http://schemas.microsoft.com/office/drawing/2014/main" id="{4C3B4F12-1E4E-CC5C-E28B-407E43A3D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C42DE2-8312-088E-F063-D340E7F9758B}"/>
              </a:ext>
            </a:extLst>
          </p:cNvPr>
          <p:cNvSpPr txBox="1"/>
          <p:nvPr/>
        </p:nvSpPr>
        <p:spPr>
          <a:xfrm>
            <a:off x="1249680" y="381338"/>
            <a:ext cx="5527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BUSINESS BENEFITS</a:t>
            </a:r>
          </a:p>
        </p:txBody>
      </p:sp>
    </p:spTree>
    <p:extLst>
      <p:ext uri="{BB962C8B-B14F-4D97-AF65-F5344CB8AC3E}">
        <p14:creationId xmlns:p14="http://schemas.microsoft.com/office/powerpoint/2010/main" val="3578064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85480-607B-2D0D-C43D-3D69D927E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2" y="1524001"/>
            <a:ext cx="5449888" cy="4732338"/>
          </a:xfrm>
        </p:spPr>
        <p:txBody>
          <a:bodyPr>
            <a:normAutofit lnSpcReduction="10000"/>
          </a:bodyPr>
          <a:lstStyle/>
          <a:p>
            <a:pPr marL="0" lvl="0" indent="0" algn="ctr">
              <a:buClr>
                <a:schemeClr val="tx1"/>
              </a:buClr>
              <a:buNone/>
            </a:pPr>
            <a:r>
              <a:rPr lang="en-IN" b="1" dirty="0">
                <a:solidFill>
                  <a:schemeClr val="bg1"/>
                </a:solidFill>
              </a:rPr>
              <a:t>CHALLENGES</a:t>
            </a:r>
          </a:p>
          <a:p>
            <a:pPr marL="0" lvl="0" indent="0" algn="ctr">
              <a:buClr>
                <a:schemeClr val="tx1"/>
              </a:buClr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Employee requests may be </a:t>
            </a:r>
            <a:r>
              <a:rPr lang="en-IN" b="1" dirty="0"/>
              <a:t>unstructured or incomplete</a:t>
            </a:r>
            <a:r>
              <a:rPr lang="en-IN" dirty="0"/>
              <a:t>. 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Managing and processing multiple </a:t>
            </a:r>
            <a:r>
              <a:rPr lang="en-IN" b="1" dirty="0"/>
              <a:t>Excel input files</a:t>
            </a:r>
            <a:r>
              <a:rPr lang="en-IN" dirty="0"/>
              <a:t>. 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Checking inventory availability accurately. 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Validating requests against </a:t>
            </a:r>
            <a:r>
              <a:rPr lang="en-IN" b="1" dirty="0"/>
              <a:t>procurement policies</a:t>
            </a:r>
            <a:r>
              <a:rPr lang="en-IN" dirty="0"/>
              <a:t>. 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Finding suitable </a:t>
            </a:r>
            <a:r>
              <a:rPr lang="en-IN" b="1" dirty="0"/>
              <a:t>approved suppliers</a:t>
            </a:r>
            <a:r>
              <a:rPr lang="en-IN" dirty="0"/>
              <a:t>. 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Comparing multiple supplier quotations efficiently.</a:t>
            </a:r>
          </a:p>
          <a:p>
            <a:pPr marL="0" lv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35E48-AD0B-D05D-882B-3A4C25948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960" y="1524002"/>
            <a:ext cx="5134929" cy="4732338"/>
          </a:xfrm>
        </p:spPr>
        <p:txBody>
          <a:bodyPr>
            <a:normAutofit lnSpcReduction="10000"/>
          </a:bodyPr>
          <a:lstStyle/>
          <a:p>
            <a:pPr marL="0" lvl="0" indent="0" algn="ctr">
              <a:buClr>
                <a:schemeClr val="tx1"/>
              </a:buClr>
              <a:buNone/>
            </a:pPr>
            <a:r>
              <a:rPr lang="en-IN" b="1" dirty="0">
                <a:solidFill>
                  <a:schemeClr val="bg1"/>
                </a:solidFill>
              </a:rPr>
              <a:t>SOLUTIONS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en-IN" dirty="0"/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Used an </a:t>
            </a:r>
            <a:r>
              <a:rPr lang="en-IN" b="1" dirty="0"/>
              <a:t>AI Agent</a:t>
            </a:r>
            <a:r>
              <a:rPr lang="en-IN" dirty="0"/>
              <a:t> to understand requests and extract required information. 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Used </a:t>
            </a:r>
            <a:r>
              <a:rPr lang="en-IN" b="1" dirty="0"/>
              <a:t>n8n Extract From File and Merge nodes</a:t>
            </a:r>
            <a:r>
              <a:rPr lang="en-IN" dirty="0"/>
              <a:t> to process Excel data. 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Automated </a:t>
            </a:r>
            <a:r>
              <a:rPr lang="en-IN" b="1" dirty="0"/>
              <a:t>inventory availability and quantity checks</a:t>
            </a:r>
            <a:r>
              <a:rPr lang="en-IN" dirty="0"/>
              <a:t>. 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Used the </a:t>
            </a:r>
            <a:r>
              <a:rPr lang="en-IN" b="1" dirty="0"/>
              <a:t>Procurement Policy</a:t>
            </a:r>
            <a:r>
              <a:rPr lang="en-IN" dirty="0"/>
              <a:t> as a reference for validation. 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Used the </a:t>
            </a:r>
            <a:r>
              <a:rPr lang="en-IN" b="1" dirty="0"/>
              <a:t>Approval Matrix and supplier data</a:t>
            </a:r>
            <a:r>
              <a:rPr lang="en-IN" dirty="0"/>
              <a:t> to identify eligible suppliers. 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IN" dirty="0"/>
              <a:t>Automated </a:t>
            </a:r>
            <a:r>
              <a:rPr lang="en-IN" b="1" dirty="0"/>
              <a:t>quotation comparison</a:t>
            </a:r>
            <a:r>
              <a:rPr lang="en-IN" dirty="0"/>
              <a:t> based on price, specifications, and delivery time.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15B68-38E9-56E3-C807-8B87FC2D9141}"/>
              </a:ext>
            </a:extLst>
          </p:cNvPr>
          <p:cNvSpPr txBox="1"/>
          <p:nvPr/>
        </p:nvSpPr>
        <p:spPr>
          <a:xfrm>
            <a:off x="1249680" y="381338"/>
            <a:ext cx="5527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CHALLENGES &amp; SOLUTIONS</a:t>
            </a:r>
          </a:p>
        </p:txBody>
      </p:sp>
      <p:pic>
        <p:nvPicPr>
          <p:cNvPr id="8" name="Graphic 7" descr="Diamond with solid fill">
            <a:extLst>
              <a:ext uri="{FF2B5EF4-FFF2-40B4-BE49-F238E27FC236}">
                <a16:creationId xmlns:a16="http://schemas.microsoft.com/office/drawing/2014/main" id="{92E3387D-5FA7-F7A5-483D-7C34BBBC6D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84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64628A-39E7-0549-6DD2-3BF70C00CC87}"/>
              </a:ext>
            </a:extLst>
          </p:cNvPr>
          <p:cNvSpPr txBox="1"/>
          <p:nvPr/>
        </p:nvSpPr>
        <p:spPr>
          <a:xfrm>
            <a:off x="523240" y="1173718"/>
            <a:ext cx="110032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Automated Email Integration</a:t>
            </a:r>
            <a:r>
              <a:rPr lang="en-IN" sz="1600" dirty="0"/>
              <a:t> – Automatically send procurement requests, quotations, and approval notifications through email. </a:t>
            </a:r>
          </a:p>
          <a:p>
            <a:pPr lvl="0"/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Real-Time Supplier Integration</a:t>
            </a:r>
            <a:r>
              <a:rPr lang="en-IN" sz="1600" dirty="0"/>
              <a:t> – Connect with supplier APIs to retrieve real-time prices, availability, and delivery information. </a:t>
            </a:r>
          </a:p>
          <a:p>
            <a:pPr lvl="0"/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Advanced Supplier Scoring</a:t>
            </a:r>
            <a:r>
              <a:rPr lang="en-IN" sz="1600" dirty="0"/>
              <a:t> – Introduce a structured scoring mechanism based on price, quality, delivery performance, and supplier reliability. </a:t>
            </a:r>
          </a:p>
          <a:p>
            <a:pPr lvl="0"/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Automated Purchase Order Generation</a:t>
            </a:r>
            <a:r>
              <a:rPr lang="en-IN" sz="1600" dirty="0"/>
              <a:t> – Generate purchase orders automatically after human approval.</a:t>
            </a:r>
          </a:p>
          <a:p>
            <a:pPr lvl="0"/>
            <a:r>
              <a:rPr lang="en-IN" sz="16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ERP Integration</a:t>
            </a:r>
            <a:r>
              <a:rPr lang="en-IN" sz="1600" dirty="0"/>
              <a:t> – Integrate with systems such as SAP or other ERP platforms for seamless procurement processing. </a:t>
            </a:r>
          </a:p>
          <a:p>
            <a:pPr lvl="0"/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Procurement Analytics Dashboard</a:t>
            </a:r>
            <a:r>
              <a:rPr lang="en-IN" sz="1600" dirty="0"/>
              <a:t> – Build a Power BI dashboard to monitor spending, supplier performance, approval times, and procurement trends. </a:t>
            </a:r>
          </a:p>
          <a:p>
            <a:pPr lvl="0"/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Human-in-the-Loop Approval</a:t>
            </a:r>
            <a:r>
              <a:rPr lang="en-IN" sz="1600" dirty="0"/>
              <a:t> – Add dedicated approval workflows for high-value or policy-sensitive purchases. </a:t>
            </a:r>
          </a:p>
          <a:p>
            <a:pPr lvl="0"/>
            <a:endParaRPr lang="en-IN" sz="1600" dirty="0"/>
          </a:p>
        </p:txBody>
      </p:sp>
      <p:pic>
        <p:nvPicPr>
          <p:cNvPr id="7" name="Graphic 6" descr="Diamond with solid fill">
            <a:extLst>
              <a:ext uri="{FF2B5EF4-FFF2-40B4-BE49-F238E27FC236}">
                <a16:creationId xmlns:a16="http://schemas.microsoft.com/office/drawing/2014/main" id="{2AFFA660-B75A-C416-B5F4-3DB662A06C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B66C7A-769D-C162-EBD1-DAD7611684C0}"/>
              </a:ext>
            </a:extLst>
          </p:cNvPr>
          <p:cNvSpPr txBox="1"/>
          <p:nvPr/>
        </p:nvSpPr>
        <p:spPr>
          <a:xfrm>
            <a:off x="1249680" y="381338"/>
            <a:ext cx="5527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3499772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135EB-A7FC-7209-0091-C0EDF3D0D391}"/>
              </a:ext>
            </a:extLst>
          </p:cNvPr>
          <p:cNvSpPr txBox="1"/>
          <p:nvPr/>
        </p:nvSpPr>
        <p:spPr>
          <a:xfrm>
            <a:off x="523240" y="1173718"/>
            <a:ext cx="1100328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End-to-End AI Procurement Agent</a:t>
            </a:r>
            <a:r>
              <a:rPr lang="en-IN" sz="1600" dirty="0"/>
              <a:t> – Automated procurement workflow developed using </a:t>
            </a:r>
            <a:r>
              <a:rPr lang="en-IN" sz="1600" b="1" dirty="0"/>
              <a:t>n8n Cloud and </a:t>
            </a:r>
            <a:r>
              <a:rPr lang="en-IN" sz="1600" b="1" dirty="0" err="1"/>
              <a:t>Groq</a:t>
            </a:r>
            <a:r>
              <a:rPr lang="en-IN" sz="1600" dirty="0"/>
              <a:t>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Requirement Understanding</a:t>
            </a:r>
            <a:r>
              <a:rPr lang="en-IN" sz="1600" dirty="0"/>
              <a:t> – AI-based extraction of employee requirements from procurement requests.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Inventory &amp; Policy Validation</a:t>
            </a:r>
            <a:r>
              <a:rPr lang="en-IN" sz="1600" dirty="0"/>
              <a:t> – Automated checking of stock availability and procurement policy compliance.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Approved Supplier Identification</a:t>
            </a:r>
            <a:r>
              <a:rPr lang="en-IN" sz="1600" dirty="0"/>
              <a:t> – Identification of suitable suppliers based on the approval matrix.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Quotation Comparison</a:t>
            </a:r>
            <a:r>
              <a:rPr lang="en-IN" sz="1600" dirty="0"/>
              <a:t> – Structured comparison of supplier quotations based on key procurement factors.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Procurement Recommendation</a:t>
            </a:r>
            <a:r>
              <a:rPr lang="en-IN" sz="1600" dirty="0"/>
              <a:t> – AI-generated supplier recommendation prepared for </a:t>
            </a:r>
            <a:r>
              <a:rPr lang="en-IN" sz="1600" b="1" dirty="0"/>
              <a:t>human approval</a:t>
            </a:r>
            <a:r>
              <a:rPr lang="en-IN" sz="16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Workflow Documentation</a:t>
            </a:r>
            <a:r>
              <a:rPr lang="en-IN" sz="1600" dirty="0"/>
              <a:t> – Complete workflow architecture, testing results, user manual, and project documentation.</a:t>
            </a:r>
          </a:p>
          <a:p>
            <a:pPr lvl="0"/>
            <a:endParaRPr lang="en-IN" sz="1600" dirty="0"/>
          </a:p>
        </p:txBody>
      </p:sp>
      <p:pic>
        <p:nvPicPr>
          <p:cNvPr id="5" name="Graphic 4" descr="Diamond with solid fill">
            <a:extLst>
              <a:ext uri="{FF2B5EF4-FFF2-40B4-BE49-F238E27FC236}">
                <a16:creationId xmlns:a16="http://schemas.microsoft.com/office/drawing/2014/main" id="{947CD4B1-CDC5-4929-EE26-A2BAF5F01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81338"/>
            <a:ext cx="589280" cy="589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35B611-8BCD-92C0-D4DC-F24C3B41F9F8}"/>
              </a:ext>
            </a:extLst>
          </p:cNvPr>
          <p:cNvSpPr txBox="1"/>
          <p:nvPr/>
        </p:nvSpPr>
        <p:spPr>
          <a:xfrm>
            <a:off x="1249680" y="381338"/>
            <a:ext cx="5527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PROJECT OUTCOME</a:t>
            </a:r>
          </a:p>
        </p:txBody>
      </p:sp>
    </p:spTree>
    <p:extLst>
      <p:ext uri="{BB962C8B-B14F-4D97-AF65-F5344CB8AC3E}">
        <p14:creationId xmlns:p14="http://schemas.microsoft.com/office/powerpoint/2010/main" val="627833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6"/>
          <p:cNvSpPr txBox="1">
            <a:spLocks noGrp="1"/>
          </p:cNvSpPr>
          <p:nvPr>
            <p:ph type="subTitle" idx="1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 fontScale="92500" lnSpcReduction="10000"/>
          </a:bodyPr>
          <a:lstStyle/>
          <a:p>
            <a:pPr marL="609585" indent="-457189"/>
            <a:r>
              <a:rPr lang="en-US" sz="64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67728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15088</TotalTime>
  <Words>1612</Words>
  <Application>Microsoft Office PowerPoint</Application>
  <PresentationFormat>Widescreen</PresentationFormat>
  <Paragraphs>202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Gothic</vt:lpstr>
      <vt:lpstr>Raleway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Pankaj Kumar</cp:lastModifiedBy>
  <cp:revision>96</cp:revision>
  <dcterms:created xsi:type="dcterms:W3CDTF">2025-04-04T02:52:34Z</dcterms:created>
  <dcterms:modified xsi:type="dcterms:W3CDTF">2026-10-01T10:51:02Z</dcterms:modified>
</cp:coreProperties>
</file>